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9"/>
  </p:notesMasterIdLst>
  <p:sldIdLst>
    <p:sldId id="297" r:id="rId2"/>
    <p:sldId id="298" r:id="rId3"/>
    <p:sldId id="281" r:id="rId4"/>
    <p:sldId id="290" r:id="rId5"/>
    <p:sldId id="293" r:id="rId6"/>
    <p:sldId id="299" r:id="rId7"/>
    <p:sldId id="296" r:id="rId8"/>
  </p:sldIdLst>
  <p:sldSz cx="12192000" cy="6858000"/>
  <p:notesSz cx="6858000" cy="9144000"/>
  <p:defaultTextStyle>
    <a:defPPr>
      <a:defRPr lang="en-US"/>
    </a:defPPr>
    <a:lvl1pPr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1pPr>
    <a:lvl2pPr marL="4572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2pPr>
    <a:lvl3pPr marL="9144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3pPr>
    <a:lvl4pPr marL="13716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4pPr>
    <a:lvl5pPr marL="18288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BBB59"/>
    <a:srgbClr val="39B0D4"/>
    <a:srgbClr val="727272"/>
    <a:srgbClr val="010000"/>
    <a:srgbClr val="FFA751"/>
    <a:srgbClr val="32323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9967" autoAdjust="0"/>
    <p:restoredTop sz="94660"/>
  </p:normalViewPr>
  <p:slideViewPr>
    <p:cSldViewPr snapToGrid="0" snapToObjects="1">
      <p:cViewPr varScale="1">
        <p:scale>
          <a:sx n="58" d="100"/>
          <a:sy n="58" d="100"/>
        </p:scale>
        <p:origin x="62" y="864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25" d="100"/>
        <a:sy n="125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C4D5ADD5-2BBC-4A94-8F86-D9013941F742}" type="datetimeFigureOut">
              <a:rPr lang="en-US"/>
              <a:pPr/>
              <a:t>7/26/2026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EC790738-CFC9-4A5E-8424-6B42AA5706F7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749454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ＭＳ Ｐゴシック" charset="0"/>
      </a:defRPr>
    </a:lvl1pPr>
    <a:lvl2pPr marL="4572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2pPr>
    <a:lvl3pPr marL="9144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3pPr>
    <a:lvl4pPr marL="13716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4pPr>
    <a:lvl5pPr marL="18288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endParaRPr lang="en-IN"/>
          </a:p>
        </p:txBody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8357687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endParaRPr lang="en-IN"/>
          </a:p>
        </p:txBody>
      </p:sp>
      <p:sp>
        <p:nvSpPr>
          <p:cNvPr id="16386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6387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65F62A7E-A2F8-438F-9CF8-47DE63F471B4}" type="slidenum">
              <a:rPr lang="en-US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407322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endParaRPr lang="en-IN"/>
          </a:p>
        </p:txBody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0CA7B74D-3791-4AC6-8451-F10DBCCCDD9A}" type="slidenum">
              <a:rPr lang="en-US"/>
              <a:pPr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520629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endParaRPr lang="en-IN"/>
          </a:p>
        </p:txBody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7350546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49F277-D966-5891-8E8E-FE1852E6B4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>
            <a:extLst>
              <a:ext uri="{FF2B5EF4-FFF2-40B4-BE49-F238E27FC236}">
                <a16:creationId xmlns:a16="http://schemas.microsoft.com/office/drawing/2014/main" id="{63166A99-EAE2-2E28-993F-D5871297B24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endParaRPr lang="en-IN"/>
          </a:p>
        </p:txBody>
      </p:sp>
      <p:sp>
        <p:nvSpPr>
          <p:cNvPr id="18434" name="Notes Placeholder 2">
            <a:extLst>
              <a:ext uri="{FF2B5EF4-FFF2-40B4-BE49-F238E27FC236}">
                <a16:creationId xmlns:a16="http://schemas.microsoft.com/office/drawing/2014/main" id="{4ED88F3D-7791-59C8-716F-0AAD4C669A9A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>
            <a:extLst>
              <a:ext uri="{FF2B5EF4-FFF2-40B4-BE49-F238E27FC236}">
                <a16:creationId xmlns:a16="http://schemas.microsoft.com/office/drawing/2014/main" id="{CC82298B-112C-33CB-5F98-D6F1C4A4C6D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17305133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endParaRPr lang="en-IN"/>
          </a:p>
        </p:txBody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0867272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60792E3-D524-454C-8AFD-A91972900BCB}" type="datetime1">
              <a:rPr lang="en-US" smtClean="0"/>
              <a:t>7/26/2026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B7E1BAA-A38D-40DE-B22C-DF9BD7D8205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708B7524-32A2-4C20-A58C-BC3BAA1042FC}" type="datetime1">
              <a:rPr lang="en-US" smtClean="0"/>
              <a:t>7/26/2026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77C3CE7-23F7-4828-823C-E0205DF2CF9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3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E994447-D6B2-43BB-A877-57F1A267B999}" type="datetime1">
              <a:rPr lang="en-US" smtClean="0"/>
              <a:t>7/26/2026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1DB31D2-2A87-4F4C-A9AD-05C6CC2B321D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68920E16-BD35-483C-AA6B-346FC7E46DEA}" type="datetime1">
              <a:rPr lang="en-US" smtClean="0"/>
              <a:t>7/26/2026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1FC16D9-1635-4844-816A-0A8A2160FADA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9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9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EAC6F8-5103-4FC0-A69E-5C6AE6469DA8}" type="datetime1">
              <a:rPr lang="en-US" smtClean="0"/>
              <a:t>7/26/2026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1C4100A-98DE-4944-910A-A93F5CA9F724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60C6921-0627-4C8F-83D5-0CF936D2FFDD}" type="datetime1">
              <a:rPr lang="en-US" smtClean="0"/>
              <a:t>7/26/2026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A63342B-5A73-45DC-864D-086DE78037EF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F08AD7-8103-40F8-983C-E2BA6BB9CBE0}" type="datetime1">
              <a:rPr lang="en-US" smtClean="0"/>
              <a:t>7/26/2026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635AFB3-1ACD-44AC-8702-86B1729DF03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2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2" y="1435103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DF8C06B4-9380-4A4D-AF49-A3596E17DAF5}" type="datetime1">
              <a:rPr lang="en-US" smtClean="0"/>
              <a:t>7/26/2026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5CF15F3-5E77-4C57-9E21-50D6D1D6C022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F7FDEF1-C582-4E22-9E77-D68326471F28}" type="datetime1">
              <a:rPr lang="en-US" smtClean="0"/>
              <a:t>7/26/2026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242169A-B3C7-4FB6-967F-AF95F4EB331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053C3A68-6922-42D3-8905-ECC2D82A3469}" type="datetime1">
              <a:rPr lang="en-US" smtClean="0"/>
              <a:t>7/26/2026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4FDD027-5576-4F27-AAB6-1D994836EE7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41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41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B69E9F4-7604-4950-A8B2-8ACDEDB1506E}" type="datetime1">
              <a:rPr lang="en-US" smtClean="0"/>
              <a:t>7/26/2026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957CE61-8714-431B-A40A-01B1C5541AB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-47625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095375"/>
            <a:ext cx="10972800" cy="50307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780A9602-A9A9-453F-AEF1-37B5837E02CD}" type="datetime1">
              <a:rPr lang="en-US" smtClean="0"/>
              <a:t>7/26/2026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TradeGothic"/>
                <a:ea typeface="+mn-ea"/>
                <a:cs typeface="+mn-cs"/>
              </a:defRPr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1411BA53-830D-4830-BB65-E58DBE17D0B7}" type="slidenum">
              <a:rPr lang="en-US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ctr" defTabSz="457200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2pPr>
      <a:lvl3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3pPr>
      <a:lvl4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4pPr>
      <a:lvl5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5pPr>
      <a:lvl6pPr marL="4572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6pPr>
      <a:lvl7pPr marL="9144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7pPr>
      <a:lvl8pPr marL="13716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8pPr>
      <a:lvl9pPr marL="18288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9pPr>
    </p:titleStyle>
    <p:bodyStyle>
      <a:lvl1pPr marL="342900" indent="-3429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32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marL="742950" indent="-28575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8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2pPr>
      <a:lvl3pPr marL="11430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24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3pPr>
      <a:lvl4pPr marL="16002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4pPr>
      <a:lvl5pPr marL="20574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12" name="Google Shape;100;p3"/>
          <p:cNvSpPr txBox="1"/>
          <p:nvPr/>
        </p:nvSpPr>
        <p:spPr>
          <a:xfrm>
            <a:off x="367832" y="1915454"/>
            <a:ext cx="11764736" cy="40703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914400" marR="0" lvl="1" indent="-316230" algn="just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endParaRPr sz="2000" b="1" i="0" u="none" strike="noStrike" cap="none" dirty="0">
              <a:solidFill>
                <a:schemeClr val="dk1"/>
              </a:solidFill>
              <a:latin typeface="Arial" panose="020B0604020202020204" pitchFamily="34" charset="0"/>
              <a:ea typeface="Calibri"/>
              <a:cs typeface="Arial" panose="020B0604020202020204" pitchFamily="34" charset="0"/>
              <a:sym typeface="Calibri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393371" y="107066"/>
            <a:ext cx="841054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IMPORTANT INSTRUCTIONS</a:t>
            </a:r>
            <a:endParaRPr lang="en-IN" sz="3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602343" y="1181900"/>
            <a:ext cx="9557657" cy="3416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</a:pPr>
            <a:r>
              <a:rPr lang="en-US" b="1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</a:rPr>
              <a:t>Please ensure below pointers are met while submitting the Idea PPT:</a:t>
            </a:r>
            <a:endParaRPr lang="en-IN" b="1" dirty="0">
              <a:solidFill>
                <a:schemeClr val="dk1"/>
              </a:solidFill>
              <a:latin typeface="Arial" panose="020B0604020202020204" pitchFamily="34" charset="0"/>
              <a:ea typeface="Calibri"/>
              <a:cs typeface="Arial" panose="020B0604020202020204" pitchFamily="34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27CE727-C45C-A6F5-9EE5-AF363B2ADA27}"/>
              </a:ext>
            </a:extLst>
          </p:cNvPr>
          <p:cNvSpPr txBox="1"/>
          <p:nvPr/>
        </p:nvSpPr>
        <p:spPr>
          <a:xfrm>
            <a:off x="602343" y="1714078"/>
            <a:ext cx="10397765" cy="40734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514350" marR="0" lvl="0" indent="-514350" algn="just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AutoNum type="arabicPeriod"/>
            </a:pP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Kindly keep the maximum slides limit up to six </a:t>
            </a:r>
            <a:r>
              <a:rPr lang="en-US" b="1" i="0" u="none" strike="noStrike" cap="none" dirty="0">
                <a:solidFill>
                  <a:srgbClr val="C00000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(6). </a:t>
            </a: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( Including the title slide) </a:t>
            </a:r>
            <a:endParaRPr lang="en-US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14350" marR="0" lvl="0" indent="-51435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AutoNum type="arabicPeriod"/>
            </a:pP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Try to avoid paragraphs and post your idea in points /diagrams / Infographics /pictures </a:t>
            </a:r>
            <a:endParaRPr lang="en-US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14350" marR="0" lvl="0" indent="-51435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AutoNum type="arabicPeriod"/>
            </a:pP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Keep your explanation precise and easy to understand</a:t>
            </a:r>
            <a:endParaRPr lang="en-US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14350" marR="0" lvl="0" indent="-51435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AutoNum type="arabicPeriod"/>
            </a:pP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Idea should be unique and novel. </a:t>
            </a:r>
            <a:endParaRPr lang="en-US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14350" marR="0" lvl="0" indent="-51435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AutoNum type="arabicPeriod"/>
            </a:pP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You can only use provided </a:t>
            </a:r>
            <a:r>
              <a:rPr lang="en-US" b="1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template</a:t>
            </a: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 for making the </a:t>
            </a:r>
            <a:r>
              <a:rPr lang="en-US" b="1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PPT</a:t>
            </a: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 without changing the idea details pointers (mentioned in previous slides).</a:t>
            </a:r>
          </a:p>
          <a:p>
            <a:pPr marL="514350" marR="0" lvl="0" indent="-51435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AutoNum type="arabicPeriod"/>
            </a:pP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You need to save the file in PDF and upload the same on portal. No PPT, Word Doc or any other format will be supported.</a:t>
            </a:r>
            <a:endParaRPr lang="en-US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14350" marR="0" lvl="0" indent="-349885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endParaRPr lang="en-US" b="1" i="0" u="none" strike="noStrike" cap="none" dirty="0">
              <a:solidFill>
                <a:schemeClr val="dk1"/>
              </a:solidFill>
              <a:latin typeface="Arial" panose="020B0604020202020204" pitchFamily="34" charset="0"/>
              <a:ea typeface="Calibri"/>
              <a:cs typeface="Arial" panose="020B0604020202020204" pitchFamily="34" charset="0"/>
              <a:sym typeface="Calibri"/>
            </a:endParaRPr>
          </a:p>
          <a:p>
            <a:pPr marL="0" marR="0" lvl="0" indent="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en-US" b="1" i="0" u="none" strike="noStrike" cap="none" dirty="0">
                <a:solidFill>
                  <a:srgbClr val="C00000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Note - You can delete this slide (Important Pointers) when you upload the details of your idea portal.</a:t>
            </a:r>
            <a:endParaRPr lang="en-US" b="1" dirty="0">
              <a:solidFill>
                <a:srgbClr val="C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914400" marR="0" lvl="1" indent="-316230" algn="just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endParaRPr lang="en-US" sz="2000" b="1" i="0" u="none" strike="noStrike" cap="none" dirty="0">
              <a:solidFill>
                <a:schemeClr val="dk1"/>
              </a:solidFill>
              <a:latin typeface="Arial" panose="020B0604020202020204" pitchFamily="34" charset="0"/>
              <a:ea typeface="Calibri"/>
              <a:cs typeface="Arial" panose="020B0604020202020204" pitchFamily="34" charset="0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58808441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2A033A5-F70E-7E73-0B8C-FA62C08DEB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C99EC04-BCF1-5A69-7D5A-95D43C9763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smtClean="0"/>
              <a:pPr/>
              <a:t>2</a:t>
            </a:fld>
            <a:endParaRPr lang="en-US"/>
          </a:p>
        </p:txBody>
      </p:sp>
      <p:sp>
        <p:nvSpPr>
          <p:cNvPr id="6" name="Subtitle 3">
            <a:extLst>
              <a:ext uri="{FF2B5EF4-FFF2-40B4-BE49-F238E27FC236}">
                <a16:creationId xmlns:a16="http://schemas.microsoft.com/office/drawing/2014/main" id="{E0A8E5C6-6BFC-01E5-DDF5-B6A7738A64F4}"/>
              </a:ext>
            </a:extLst>
          </p:cNvPr>
          <p:cNvSpPr txBox="1">
            <a:spLocks/>
          </p:cNvSpPr>
          <p:nvPr/>
        </p:nvSpPr>
        <p:spPr bwMode="auto">
          <a:xfrm>
            <a:off x="1415369" y="-365784"/>
            <a:ext cx="8534400" cy="1752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0" indent="0" algn="ctr" defTabSz="457200" rtl="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TradeGothic"/>
                <a:ea typeface="ＭＳ Ｐゴシック" charset="0"/>
                <a:cs typeface="ＭＳ Ｐゴシック" charset="0"/>
              </a:defRPr>
            </a:lvl1pPr>
            <a:lvl2pPr marL="457200" indent="0" algn="ctr" defTabSz="457200" rtl="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TradeGothic"/>
                <a:ea typeface="ＭＳ Ｐゴシック" charset="0"/>
                <a:cs typeface="+mn-cs"/>
              </a:defRPr>
            </a:lvl2pPr>
            <a:lvl3pPr marL="914400" indent="0" algn="ctr" defTabSz="457200" rtl="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TradeGothic"/>
                <a:ea typeface="ＭＳ Ｐゴシック" charset="0"/>
                <a:cs typeface="+mn-cs"/>
              </a:defRPr>
            </a:lvl3pPr>
            <a:lvl4pPr marL="1371600" indent="0" algn="ctr" defTabSz="457200" rtl="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TradeGothic"/>
                <a:ea typeface="ＭＳ Ｐゴシック" charset="0"/>
                <a:cs typeface="+mn-cs"/>
              </a:defRPr>
            </a:lvl4pPr>
            <a:lvl5pPr marL="1828800" indent="0" algn="ctr" defTabSz="457200" rtl="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TradeGothic"/>
                <a:ea typeface="ＭＳ Ｐゴシック" charset="0"/>
                <a:cs typeface="+mn-cs"/>
              </a:defRPr>
            </a:lvl5pPr>
            <a:lvl6pPr marL="22860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TITLE PAGE</a:t>
            </a:r>
            <a:endParaRPr lang="en-IN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FB1BDE7-2DA0-F526-CF6E-F50D43C2C5FE}"/>
              </a:ext>
            </a:extLst>
          </p:cNvPr>
          <p:cNvSpPr txBox="1"/>
          <p:nvPr/>
        </p:nvSpPr>
        <p:spPr>
          <a:xfrm>
            <a:off x="172685" y="802401"/>
            <a:ext cx="11794726" cy="5425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Problem Statement ID – 03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Problem Statement Title- Autonomous Production Choke Controller for a Single Naturally Flowing Oil Well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Theme- </a:t>
            </a:r>
            <a:r>
              <a:rPr lang="en-IN" sz="2400" b="1" dirty="0">
                <a:latin typeface="Arial" panose="020B0604020202020204" pitchFamily="34" charset="0"/>
                <a:cs typeface="Arial" panose="020B0604020202020204" pitchFamily="34" charset="0"/>
              </a:rPr>
              <a:t>Industrial Process Automation &amp; Optimization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PS Category- Software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Student Name (Registered on portal)- Shyambaskar.S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Student ID-127156148</a:t>
            </a:r>
            <a:endParaRPr lang="en-IN" sz="24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1988478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1" name="Title 1"/>
          <p:cNvSpPr>
            <a:spLocks noGrp="1"/>
          </p:cNvSpPr>
          <p:nvPr>
            <p:ph type="title"/>
          </p:nvPr>
        </p:nvSpPr>
        <p:spPr>
          <a:xfrm>
            <a:off x="-1" y="0"/>
            <a:ext cx="12191999" cy="977030"/>
          </a:xfrm>
        </p:spPr>
        <p:txBody>
          <a:bodyPr/>
          <a:lstStyle/>
          <a:p>
            <a:pPr eaLnBrk="1" hangingPunct="1"/>
            <a:b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</a:br>
            <a:r>
              <a:rPr lang="en-US" sz="3200" b="1" dirty="0"/>
              <a:t>FlowGuard-MPC: Adaptive Model-Predictive Production Choke Controller for Autonomous Safe Oil Well Optimization</a:t>
            </a:r>
            <a:endParaRPr lang="en-US" sz="3600" b="1" dirty="0">
              <a:latin typeface="Times New Roman" panose="02020603050405020304" pitchFamily="18" charset="0"/>
              <a:ea typeface="ＭＳ Ｐゴシック" pitchFamily="1" charset="-128"/>
              <a:cs typeface="Times New Roman" panose="02020603050405020304" pitchFamily="18" charset="0"/>
            </a:endParaRPr>
          </a:p>
        </p:txBody>
      </p:sp>
      <p:sp>
        <p:nvSpPr>
          <p:cNvPr id="15362" name="TextBox 8"/>
          <p:cNvSpPr txBox="1">
            <a:spLocks noChangeArrowheads="1"/>
          </p:cNvSpPr>
          <p:nvPr/>
        </p:nvSpPr>
        <p:spPr bwMode="auto">
          <a:xfrm>
            <a:off x="-1" y="1359453"/>
            <a:ext cx="12191999" cy="5509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en-US" sz="2800" b="1" u="sng" dirty="0">
                <a:latin typeface="Arial" pitchFamily="34" charset="0"/>
                <a:cs typeface="Arial" pitchFamily="34" charset="0"/>
              </a:rPr>
              <a:t>Proposed Solution (Describe your Idea/Solution/Prototype)</a:t>
            </a:r>
            <a:endParaRPr lang="en-US" sz="2800" u="sng" dirty="0">
              <a:latin typeface="Arial" pitchFamily="34" charset="0"/>
              <a:cs typeface="Arial" pitchFamily="34" charset="0"/>
            </a:endParaRPr>
          </a:p>
          <a:p>
            <a:r>
              <a:rPr lang="en-IN" sz="2800" b="1" u="sng" dirty="0"/>
              <a:t>Detailed explanation of the proposed solution: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 b="1" dirty="0" err="1"/>
              <a:t>FlowGuard</a:t>
            </a:r>
            <a:r>
              <a:rPr lang="en-IN" sz="2000" b="1" dirty="0"/>
              <a:t>-MPC Architecture</a:t>
            </a:r>
            <a:r>
              <a:rPr lang="en-IN" sz="2000" dirty="0"/>
              <a:t>: Autonomous Receding Horizon MPC operating at discrete 1-hour control intervals (Ts = 1 hr) with multi-step trajectory prediction (Np = 3 hrs).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 b="1" dirty="0"/>
              <a:t>Integrated Safety &amp; Noise Filter</a:t>
            </a:r>
            <a:r>
              <a:rPr lang="en-IN" sz="2000" dirty="0"/>
              <a:t>: Combines exponential telemetry noise smoothing (alpha = 0.3) with a predictive Candidate Move Rejection Engine.</a:t>
            </a:r>
          </a:p>
          <a:p>
            <a:r>
              <a:rPr lang="en-IN" sz="2800" b="1" u="sng" dirty="0"/>
              <a:t>How it addresses the problem: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 b="1" dirty="0"/>
              <a:t>Hard Constraint Enforcement</a:t>
            </a:r>
            <a:r>
              <a:rPr lang="en-IN" sz="2000" dirty="0"/>
              <a:t>: Strictly limits choke ramp moves (|du| &lt;= 5%/hr) and instantly voids any action predicted to breach pressure bounds (WHP &gt;= 210, FLP &gt;= 150, BHP &gt;= 2850 psi).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 b="1" dirty="0"/>
              <a:t>Infeasible Target Resiliency (Scenario C)</a:t>
            </a:r>
            <a:r>
              <a:rPr lang="en-IN" sz="2000" dirty="0"/>
              <a:t>: Automatically settles at the maximum safe achievable flow rate (183.15 </a:t>
            </a:r>
            <a:r>
              <a:rPr lang="en-IN" sz="2000" dirty="0" err="1"/>
              <a:t>bbl</a:t>
            </a:r>
            <a:r>
              <a:rPr lang="en-IN" sz="2000" dirty="0"/>
              <a:t>/hr) with zero safety violations.</a:t>
            </a:r>
          </a:p>
          <a:p>
            <a:r>
              <a:rPr lang="en-IN" sz="2800" b="1" u="sng" dirty="0"/>
              <a:t>Innovation and uniqueness of the solution: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 b="1" dirty="0"/>
              <a:t>Live Online System ID</a:t>
            </a:r>
            <a:r>
              <a:rPr lang="en-IN" sz="2000" dirty="0"/>
              <a:t>: Recursively estimates process gains (</a:t>
            </a:r>
            <a:r>
              <a:rPr lang="en-IN" sz="2000" dirty="0" err="1"/>
              <a:t>dQ</a:t>
            </a:r>
            <a:r>
              <a:rPr lang="en-IN" sz="2000" dirty="0"/>
              <a:t>/du, </a:t>
            </a:r>
            <a:r>
              <a:rPr lang="en-IN" sz="2000" dirty="0" err="1"/>
              <a:t>dWHP</a:t>
            </a:r>
            <a:r>
              <a:rPr lang="en-IN" sz="2000" dirty="0"/>
              <a:t>/du, </a:t>
            </a:r>
            <a:r>
              <a:rPr lang="en-IN" sz="2000" dirty="0" err="1"/>
              <a:t>dFLP</a:t>
            </a:r>
            <a:r>
              <a:rPr lang="en-IN" sz="2000" dirty="0"/>
              <a:t>/du, </a:t>
            </a:r>
            <a:r>
              <a:rPr lang="en-IN" sz="2000" dirty="0" err="1"/>
              <a:t>dBHP</a:t>
            </a:r>
            <a:r>
              <a:rPr lang="en-IN" sz="2000" dirty="0"/>
              <a:t>/du) live during execution without depending on static offline files.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 b="1" dirty="0"/>
              <a:t>Plug-and-Play API Compliance</a:t>
            </a:r>
            <a:r>
              <a:rPr lang="en-IN" sz="2000" dirty="0"/>
              <a:t>: Directly interfaces with Honeywell's official evaluation signature: Q, WHP, FLP, BHP = </a:t>
            </a:r>
            <a:r>
              <a:rPr lang="en-IN" sz="2000" dirty="0" err="1"/>
              <a:t>simulator.step</a:t>
            </a:r>
            <a:r>
              <a:rPr lang="en-IN" sz="2000" dirty="0"/>
              <a:t>(</a:t>
            </a:r>
            <a:r>
              <a:rPr lang="en-IN" sz="2000" dirty="0" err="1"/>
              <a:t>choke_position</a:t>
            </a:r>
            <a:r>
              <a:rPr lang="en-IN" sz="2000" dirty="0"/>
              <a:t>).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 smtClean="0">
                <a:solidFill>
                  <a:schemeClr val="bg1"/>
                </a:solidFill>
              </a:rPr>
              <a:pPr/>
              <a:t>3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@SIH Idea submission- Template</a:t>
            </a:r>
            <a:endParaRPr lang="en-US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TECHNICAL APPROACH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490331" y="1327705"/>
            <a:ext cx="11290852" cy="181588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800" dirty="0">
                <a:latin typeface="Arial" pitchFamily="34" charset="0"/>
                <a:cs typeface="Arial" pitchFamily="34" charset="0"/>
              </a:rPr>
              <a:t>Technologies to be used (e.g. programming languages, frameworks, hardware)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800" dirty="0">
                <a:latin typeface="Arial" pitchFamily="34" charset="0"/>
                <a:cs typeface="Arial" pitchFamily="34" charset="0"/>
              </a:rPr>
              <a:t>Methodology and process for implementation (Flow Charts/Images/ working prototype)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>
                <a:solidFill>
                  <a:schemeClr val="bg1"/>
                </a:solidFill>
              </a:rPr>
              <a:pPr/>
              <a:t>4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@SIH Idea submission- Template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0" name="AutoShape 6" descr="Ultra-Wide 16:9 Architecture Diagram">
            <a:extLst>
              <a:ext uri="{FF2B5EF4-FFF2-40B4-BE49-F238E27FC236}">
                <a16:creationId xmlns:a16="http://schemas.microsoft.com/office/drawing/2014/main" id="{FB62B0FE-FCD3-CF32-7F2D-527F9597273D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599" y="3276599"/>
            <a:ext cx="3160643" cy="316064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FEASIBILITY AND VIABILITY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609600" y="2533653"/>
            <a:ext cx="9385300" cy="138499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2800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Analysis of the feasibility of the idea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itchFamily="34" charset="0"/>
              <a:ea typeface="ＭＳ Ｐゴシック" pitchFamily="1" charset="-128"/>
              <a:cs typeface="Arial" pitchFamily="34" charset="0"/>
            </a:endParaRPr>
          </a:p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2800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Potential challenges and risks</a:t>
            </a:r>
          </a:p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itchFamily="34" charset="0"/>
                <a:ea typeface="ＭＳ Ｐゴシック" pitchFamily="1" charset="-128"/>
                <a:cs typeface="Arial" pitchFamily="34" charset="0"/>
              </a:rPr>
              <a:t>Strategies</a:t>
            </a:r>
            <a:r>
              <a:rPr kumimoji="0" lang="en-US" sz="2800" b="0" i="0" u="none" strike="noStrike" kern="1200" cap="none" spc="0" normalizeH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itchFamily="34" charset="0"/>
                <a:ea typeface="ＭＳ Ｐゴシック" pitchFamily="1" charset="-128"/>
                <a:cs typeface="Arial" pitchFamily="34" charset="0"/>
              </a:rPr>
              <a:t> for overcoming these challenges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itchFamily="34" charset="0"/>
              <a:ea typeface="ＭＳ Ｐゴシック" pitchFamily="1" charset="-128"/>
              <a:cs typeface="Arial" pitchFamily="34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5338791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B09052-50AE-B3C2-6A1C-5CFF37D94A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9" name="Title 1">
            <a:extLst>
              <a:ext uri="{FF2B5EF4-FFF2-40B4-BE49-F238E27FC236}">
                <a16:creationId xmlns:a16="http://schemas.microsoft.com/office/drawing/2014/main" id="{5E03BF1A-7989-5C44-934B-D93E149184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ARTIFACTS</a:t>
            </a:r>
          </a:p>
        </p:txBody>
      </p:sp>
      <p:sp>
        <p:nvSpPr>
          <p:cNvPr id="17410" name="TextBox 8">
            <a:extLst>
              <a:ext uri="{FF2B5EF4-FFF2-40B4-BE49-F238E27FC236}">
                <a16:creationId xmlns:a16="http://schemas.microsoft.com/office/drawing/2014/main" id="{DD0C6F84-D6ED-416D-7179-055149D83FA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9600" y="2533653"/>
            <a:ext cx="9385300" cy="224676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2800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Relevant artifacts, such as :</a:t>
            </a:r>
          </a:p>
          <a:p>
            <a:pPr marL="800100" lvl="1" indent="-342900" algn="just">
              <a:buFont typeface="Arial" panose="020B0604020202020204" pitchFamily="34" charset="0"/>
              <a:buChar char="•"/>
              <a:defRPr/>
            </a:pPr>
            <a:r>
              <a:rPr lang="en-US" sz="2800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Copy of the Code Embedded</a:t>
            </a:r>
          </a:p>
          <a:p>
            <a:pPr marL="800100" lvl="1" indent="-342900" algn="just">
              <a:buFont typeface="Arial" panose="020B0604020202020204" pitchFamily="34" charset="0"/>
              <a:buChar char="•"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itchFamily="34" charset="0"/>
                <a:ea typeface="ＭＳ Ｐゴシック" pitchFamily="1" charset="-128"/>
                <a:cs typeface="Arial" pitchFamily="34" charset="0"/>
              </a:rPr>
              <a:t>Snaps of the </a:t>
            </a:r>
            <a:r>
              <a:rPr lang="en-US" sz="2800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solution proposal</a:t>
            </a:r>
          </a:p>
          <a:p>
            <a:pPr marL="800100" lvl="1" indent="-342900" algn="just">
              <a:buFont typeface="Arial" panose="020B0604020202020204" pitchFamily="34" charset="0"/>
              <a:buChar char="•"/>
              <a:defRPr/>
            </a:pPr>
            <a:r>
              <a:rPr lang="en-US" sz="2800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Dashboard snaps</a:t>
            </a:r>
          </a:p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itchFamily="34" charset="0"/>
              <a:ea typeface="ＭＳ Ｐゴシック" pitchFamily="1" charset="-128"/>
              <a:cs typeface="Arial" pitchFamily="34" charset="0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4B14AAA-63FC-5F17-FE74-5405495A1C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34C6332B-BBD9-799D-50C5-6A19BC85E4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7344788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RESEARCH  AND REFERENCES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609600" y="2795263"/>
            <a:ext cx="9385300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2800" noProof="0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Details / Links of the reference and research work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itchFamily="34" charset="0"/>
              <a:ea typeface="ＭＳ Ｐゴシック" pitchFamily="1" charset="-128"/>
              <a:cs typeface="Arial" pitchFamily="34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91678861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Metadata/LabelInfo.xml><?xml version="1.0" encoding="utf-8"?>
<clbl:labelList xmlns:clbl="http://schemas.microsoft.com/office/2020/mipLabelMetadata">
  <clbl:label id="{d546e5e1-5d42-4630-bacd-c69bfdcbd5e8}" enabled="1" method="Standard" siteId="{96ece526-9c7d-48b0-8daf-8b93c90a5d18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7905</TotalTime>
  <Words>536</Words>
  <Application>Microsoft Office PowerPoint</Application>
  <PresentationFormat>Widescreen</PresentationFormat>
  <Paragraphs>64</Paragraphs>
  <Slides>7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3" baseType="lpstr">
      <vt:lpstr>ＭＳ Ｐゴシック</vt:lpstr>
      <vt:lpstr>Arial</vt:lpstr>
      <vt:lpstr>Calibri</vt:lpstr>
      <vt:lpstr>Times New Roman</vt:lpstr>
      <vt:lpstr>TradeGothic</vt:lpstr>
      <vt:lpstr>Office Theme</vt:lpstr>
      <vt:lpstr>PowerPoint Presentation</vt:lpstr>
      <vt:lpstr>PowerPoint Presentation</vt:lpstr>
      <vt:lpstr> FlowGuard-MPC: Adaptive Model-Predictive Production Choke Controller for Autonomous Safe Oil Well Optimization</vt:lpstr>
      <vt:lpstr>TECHNICAL APPROACH</vt:lpstr>
      <vt:lpstr>FEASIBILITY AND VIABILITY</vt:lpstr>
      <vt:lpstr>ARTIFACTS</vt:lpstr>
      <vt:lpstr>RESEARCH  AND REFERENCES</vt:lpstr>
    </vt:vector>
  </TitlesOfParts>
  <Manager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Idea Template</dc:title>
  <dc:subject/>
  <dc:creator>Shyambaskar Sriram</dc:creator>
  <cp:keywords/>
  <dc:description/>
  <cp:lastModifiedBy>Shyambaskar Sriram</cp:lastModifiedBy>
  <cp:revision>154</cp:revision>
  <dcterms:created xsi:type="dcterms:W3CDTF">2013-12-12T18:46:50Z</dcterms:created>
  <dcterms:modified xsi:type="dcterms:W3CDTF">2026-07-26T04:55:24Z</dcterms:modified>
  <cp:category/>
</cp:coreProperties>
</file>