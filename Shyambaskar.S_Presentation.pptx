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7" autoAdjust="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77" y="6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flowguard-mpc.streamlit.app/" TargetMode="External"/><Relationship Id="rId3" Type="http://schemas.openxmlformats.org/officeDocument/2006/relationships/hyperlink" Target="https://python-control.readthedocs.io/" TargetMode="External"/><Relationship Id="rId7" Type="http://schemas.openxmlformats.org/officeDocument/2006/relationships/hyperlink" Target="https://process.honeywell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" TargetMode="External"/><Relationship Id="rId5" Type="http://schemas.openxmlformats.org/officeDocument/2006/relationships/hyperlink" Target="https://arxiv.org/" TargetMode="External"/><Relationship Id="rId4" Type="http://schemas.openxmlformats.org/officeDocument/2006/relationships/hyperlink" Target="https://docs.scipy.org/doc/scipy/reference/optimiz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172685" y="802401"/>
            <a:ext cx="11794726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03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Autonomous Production Choke Controller for a Single Naturally Flowing Oil Well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Industrial Process Automation &amp; Optimization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 (Registered on portal)- Shyambaskar.S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ID-127156148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1999" cy="97703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/>
              <a:t>FlowGuard-MPC: Adaptive Model-Predictive Production Choke Controller for Autonomous Safe Oil Well Optimization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359453"/>
            <a:ext cx="12191999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u="sng" dirty="0">
                <a:latin typeface="Arial" pitchFamily="34" charset="0"/>
                <a:cs typeface="Arial" pitchFamily="34" charset="0"/>
              </a:rPr>
              <a:t>Proposed Solution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u="sng" dirty="0"/>
              <a:t>Detailed explanation of the proposed solution: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FlowGuard-MPC Architecture</a:t>
            </a:r>
            <a:r>
              <a:rPr lang="en-IN" sz="2000" dirty="0"/>
              <a:t>: Autonomous Receding Horizon MPC operating at discrete 1-hour control intervals (Ts = 1 hr) with multi-step trajectory prediction (Np = 3 hrs).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Integrated Safety &amp; Noise Filter</a:t>
            </a:r>
            <a:r>
              <a:rPr lang="en-IN" sz="2000" dirty="0"/>
              <a:t>: Combines exponential telemetry noise smoothing (alpha = 0.3) with a predictive Candidate Move Rejection Engine.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u="sng" dirty="0"/>
              <a:t>How it addresses the problem: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Hard Constraint Enforcement</a:t>
            </a:r>
            <a:r>
              <a:rPr lang="en-IN" sz="2000" dirty="0"/>
              <a:t>: Strictly limits choke ramp moves (|du| &lt;= 5%/hr) and instantly voids any action predicted to breach pressure bounds (WHP &gt;= 210, FLP &gt;= 150, BHP &gt;= 2850 psi).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Infeasible Target Resiliency (Scenario C)</a:t>
            </a:r>
            <a:r>
              <a:rPr lang="en-IN" sz="2000" dirty="0"/>
              <a:t>: Automatically settles at the maximum safe achievable flow rate (183.15 bbl/hr) with zero safety violations.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u="sng" dirty="0"/>
              <a:t>Innovation and uniqueness of the solution: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Live Online System ID</a:t>
            </a:r>
            <a:r>
              <a:rPr lang="en-IN" sz="2000" dirty="0"/>
              <a:t>: Recursively estimates process gains (dQ/du, dWHP/du, dFLP/du, dBHP/du) live during execution without depending on static offline files.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Plug-and-Play API Compliance</a:t>
            </a:r>
            <a:r>
              <a:rPr lang="en-IN" sz="2000" dirty="0"/>
              <a:t>: Directly interfaces with Honeywell's official evaluation signature: Q, WHP, FLP, BHP = simulator.step(choke_position).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29540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0604" y="518478"/>
            <a:ext cx="11745992" cy="2185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Technologies Used</a:t>
            </a:r>
            <a:r>
              <a:rPr lang="en-IN" sz="2800" dirty="0"/>
              <a:t>:-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Core Stack &amp; Analytics</a:t>
            </a:r>
            <a:r>
              <a:rPr lang="en-IN" sz="2000" dirty="0"/>
              <a:t>: Python 3.13, NumPy (vectorized trajectory &amp; cost optimization math), Pandas (time-series telemetry processing), and Matplotlib / Plotly (300 DPI trend plotting).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Frameworks &amp; Interface</a:t>
            </a:r>
            <a:r>
              <a:rPr lang="en-IN" sz="2000" dirty="0"/>
              <a:t>: Streamlit (interactive web dashboard for live monitoring), Jupyter Notebook (execution workspace), and custom object-oriented Model Predictive Control modules.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Methodology and process for implementation:-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AutoShape 6" descr="Ultra-Wide 16:9 Architecture Diagram">
            <a:extLst>
              <a:ext uri="{FF2B5EF4-FFF2-40B4-BE49-F238E27FC236}">
                <a16:creationId xmlns:a16="http://schemas.microsoft.com/office/drawing/2014/main" id="{FB62B0FE-FCD3-CF32-7F2D-527F959727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160643" cy="3160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2" name="AutoShape 2" descr="Ultra-Wide 16:9 Architecture Diagram">
            <a:extLst>
              <a:ext uri="{FF2B5EF4-FFF2-40B4-BE49-F238E27FC236}">
                <a16:creationId xmlns:a16="http://schemas.microsoft.com/office/drawing/2014/main" id="{071FBAC3-3538-1B0C-DF75-5C12D500C2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DDC6B8-1706-41F9-EFA9-8A7571039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842" y="2567170"/>
            <a:ext cx="9449514" cy="41543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877847"/>
            <a:ext cx="12192000" cy="630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Analysis of the feasibility of the idea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Industrial Hardware Feasibility</a:t>
            </a:r>
            <a:r>
              <a:rPr lang="en-US" sz="2000" dirty="0"/>
              <a:t>: Executes with minimal computational overhead (&lt; 0.05 seconds per control step), enabling direct deployment on low-power edge gateways and industrial PLCs/DCS units.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Robust Plant Adaptability</a:t>
            </a:r>
            <a:r>
              <a:rPr lang="en-US" sz="2000" dirty="0"/>
              <a:t>: Engineered to handle real-world oilfield disturbances, including reservoir pressure depletion and gas-cut fluid fluctuations.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Potential challenges and risks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High-Frequency Sensor Noise &amp; Valve Wear</a:t>
            </a:r>
            <a:r>
              <a:rPr lang="en-US" sz="2000" dirty="0"/>
              <a:t>: Rapid raw telemetry fluctuations can induce erratic choke micro-adjustments, accelerating mechanical valve wear.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Dynamic Plant Drift</a:t>
            </a:r>
            <a:r>
              <a:rPr lang="en-US" sz="2000" dirty="0"/>
              <a:t>: Unexpected reservoir inflow changes or unseen evaluation simulator dynamics can cause prediction mismatch in static models.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Strategies for overcoming these challenges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Deadband Error Thresholding</a:t>
            </a:r>
            <a:r>
              <a:rPr lang="en-US" sz="2000" dirty="0"/>
              <a:t>: Enforces a strict 0.15 bbl/hr deadband threshold to lock choke position when flow error is negligible, eliminating chatter and extending actuator lifespan.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Continuous Adaptive Recalibration</a:t>
            </a:r>
            <a:r>
              <a:rPr lang="en-US" sz="2000" dirty="0"/>
              <a:t>: Dynamically recalculates sensitivity gradients at every 1-hour step, ensuring real-time stability even during unannounced plant dynamic shifts.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Infeasible Target Fallback Engine</a:t>
            </a:r>
            <a:r>
              <a:rPr lang="en-IN" sz="2000" dirty="0"/>
              <a:t>: Automatically detects when requested flow setpoints exceed physical well capacity (e.g. 220 bbl/hr) and dynamically locks onto the maximum safe production rate (183.15 bbl/hr), maintaining WHP right at 210.0 psi with zero control oscillations or pressure trips.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27286" y="6173790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767" y="69822"/>
            <a:ext cx="8176260" cy="337752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957" y="407574"/>
            <a:ext cx="93853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Relevant artifacts :</a:t>
            </a:r>
          </a:p>
          <a:p>
            <a:pPr marL="800100" lvl="1" indent="-342900" algn="just">
              <a:buFont typeface="+mj-lt"/>
              <a:buAutoNum type="arabicPeriod"/>
              <a:defRPr/>
            </a:pPr>
            <a:r>
              <a:rPr lang="en-US" sz="1400" dirty="0"/>
              <a:t>Code to be replaced when the simulator changes (Plug &amp; Play Interface)</a:t>
            </a:r>
            <a:endParaRPr lang="en-US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Font typeface="+mj-lt"/>
              <a:buAutoNum type="arabicPeriod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Font typeface="+mj-lt"/>
              <a:buAutoNum type="arabicPeriod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Font typeface="+mj-lt"/>
              <a:buAutoNum type="arabicPeriod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Font typeface="+mj-lt"/>
              <a:buAutoNum type="arabicPeriod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Font typeface="+mj-lt"/>
              <a:buAutoNum type="arabicPeriod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Font typeface="+mj-lt"/>
              <a:buAutoNum type="arabicPeriod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Font typeface="+mj-lt"/>
              <a:buAutoNum type="arabicPeriod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800100" lvl="1" indent="-342900" algn="just">
              <a:buFont typeface="+mj-lt"/>
              <a:buAutoNum type="arabicPeriod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Snaps of the </a:t>
            </a: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solution proposal &amp; Dashboard snaps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FADC82-7F9A-4943-7BB8-E68F857ED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221" y="999123"/>
            <a:ext cx="5684001" cy="29220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F23113-43FF-512B-19D3-1E2DF7B51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260" y="4138335"/>
            <a:ext cx="2484120" cy="2719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AE6643-A3FC-4392-8FBB-46B973917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1460" y="4138335"/>
            <a:ext cx="4983480" cy="264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48053" y="-146725"/>
            <a:ext cx="10972800" cy="75247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639DE2-3500-FB46-E54A-96A8E26D0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56" y="443946"/>
            <a:ext cx="11662560" cy="59093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Control Engineering &amp; Optimization Frameworks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 Control Systems Library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 Control Systems Library Documentation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SciPy Optimization Engine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SciPy Optimization and Constraint Solvers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Academic Papers &amp; Research Literature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Constrained Receding Horizon MPC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Constrained Model Predictive Control and Receding Horizon Systems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Production Choke Control Dynamics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 Predictive Control in Petroleum Production and Flow Systems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Industrial Specifications &amp; Honeywell Resources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Honeywell Process Solutions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Honeywell Process Control Systems Resource Center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Honeywell Challenge Specifications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Round 2 Case-Based Problem Statement: Autonomous Production Choke Controller for Single Naturally Flowing Oil Well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Implementation &amp; Interactive Workspace</a:t>
            </a:r>
          </a:p>
          <a:p>
            <a:pPr marL="342900" lvl="0" indent="-342900" defTabSz="914400" eaLnBrk="0" hangingPunct="0"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Master Submission Deliverable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n-IN" sz="2000" dirty="0"/>
              <a:t>FlowGuard_MPC_Honeywell_Round2_Submission_Shyambaskar_Sriram.zip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defTabSz="914400" eaLnBrk="0" hangingPunct="0"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Autonomous MPC Controller Module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n-IN" sz="2000" dirty="0"/>
              <a:t>mpc_controller.py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Interactive Control Visualizer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app.py</a:t>
            </a:r>
          </a:p>
          <a:p>
            <a:pPr marL="342900" lvl="0" indent="-342900" defTabSz="914400" eaLnBrk="0" hangingPunct="0"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Master Jupyter Execution Workspace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n-IN" sz="2000" dirty="0"/>
              <a:t>choke_controller_solution.ipynb</a:t>
            </a:r>
          </a:p>
          <a:p>
            <a:pPr marL="342900" lvl="0" indent="-342900" defTabSz="914400" eaLnBrk="0" hangingPunct="0">
              <a:buFont typeface="+mj-lt"/>
              <a:buAutoNum type="arabicPeriod"/>
            </a:pPr>
            <a:r>
              <a:rPr kumimoji="0" lang="en-IN" altLang="en-US" sz="2000" b="0" i="0" u="none" strike="noStrike" cap="none" normalizeH="0" baseline="0" dirty="0">
                <a:ln>
                  <a:noFill/>
                </a:ln>
                <a:effectLst/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Deployment Link- </a:t>
            </a:r>
            <a:r>
              <a:rPr lang="en-IN" sz="2000" dirty="0">
                <a:highlight>
                  <a:srgbClr val="00FF00"/>
                </a:highlight>
                <a:hlinkClick r:id="rId8"/>
              </a:rPr>
              <a:t>https://flowguard-mpc.streamlit.app/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8193</TotalTime>
  <Words>774</Words>
  <Application>Microsoft Office PowerPoint</Application>
  <PresentationFormat>Widescreen</PresentationFormat>
  <Paragraphs>82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MS PGothic</vt:lpstr>
      <vt:lpstr>Arial</vt:lpstr>
      <vt:lpstr>Calibri</vt:lpstr>
      <vt:lpstr>Times New Roman</vt:lpstr>
      <vt:lpstr>TradeGothic</vt:lpstr>
      <vt:lpstr>Office Theme</vt:lpstr>
      <vt:lpstr>PowerPoint Presentation</vt:lpstr>
      <vt:lpstr> FlowGuard-MPC: Adaptive Model-Predictive Production Choke Controller for Autonomous Safe Oil Well Optimization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dc:creator>Shyambaskar Sriram</dc:creator>
  <cp:keywords/>
  <dc:description/>
  <cp:lastModifiedBy>Shyambaskar Sriram</cp:lastModifiedBy>
  <cp:revision>156</cp:revision>
  <dcterms:created xsi:type="dcterms:W3CDTF">2013-12-12T18:46:50Z</dcterms:created>
  <dcterms:modified xsi:type="dcterms:W3CDTF">2026-07-26T09:43:33Z</dcterms:modified>
  <cp:category/>
</cp:coreProperties>
</file>